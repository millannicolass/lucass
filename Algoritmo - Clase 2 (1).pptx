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8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13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8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50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2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6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48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73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48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73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04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44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4/7/2025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seint.sourceforge.net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45648E2-B946-43A1-80DE-C50CBBDF9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052B3A-009C-67C3-935C-349879CC8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477" y="3036295"/>
            <a:ext cx="4326063" cy="703827"/>
          </a:xfrm>
        </p:spPr>
        <p:txBody>
          <a:bodyPr anchor="b">
            <a:normAutofit/>
          </a:bodyPr>
          <a:lstStyle/>
          <a:p>
            <a:r>
              <a:rPr lang="es-AR" dirty="0"/>
              <a:t>Algoritmo – Clase 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C2B866-DD56-9FDD-7F3B-160B5C1FD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8" y="4902489"/>
            <a:ext cx="3795812" cy="985075"/>
          </a:xfrm>
        </p:spPr>
        <p:txBody>
          <a:bodyPr anchor="t">
            <a:normAutofit/>
          </a:bodyPr>
          <a:lstStyle/>
          <a:p>
            <a:endParaRPr lang="es-AR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06546B-3E90-4E24-BD32-C6BFD1CD8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FA95682-BEE6-4B33-BA34-7E7BE4978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3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0C7950-8014-BB90-007C-0B51B66F9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441" y="1066800"/>
            <a:ext cx="4724399" cy="472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381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B58CC-4A39-D3D5-3E66-5C85C7EDA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948" y="151159"/>
            <a:ext cx="9950103" cy="753689"/>
          </a:xfrm>
        </p:spPr>
        <p:txBody>
          <a:bodyPr/>
          <a:lstStyle/>
          <a:p>
            <a:pPr algn="ctr"/>
            <a:r>
              <a:rPr lang="es-AR" dirty="0"/>
              <a:t>Instalar - </a:t>
            </a:r>
            <a:r>
              <a:rPr lang="es-AR" dirty="0" err="1"/>
              <a:t>PSeINT</a:t>
            </a:r>
            <a:endParaRPr lang="es-AR" dirty="0"/>
          </a:p>
        </p:txBody>
      </p:sp>
      <p:pic>
        <p:nvPicPr>
          <p:cNvPr id="1026" name="Picture 2" descr="procomun">
            <a:extLst>
              <a:ext uri="{FF2B5EF4-FFF2-40B4-BE49-F238E27FC236}">
                <a16:creationId xmlns:a16="http://schemas.microsoft.com/office/drawing/2014/main" id="{7DAF719B-887A-B23F-47BC-8F911647FC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791" y="1099174"/>
            <a:ext cx="4008417" cy="3346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049DC761-97B1-D712-BF70-5B3DB0B0205E}"/>
              </a:ext>
            </a:extLst>
          </p:cNvPr>
          <p:cNvSpPr txBox="1">
            <a:spLocks/>
          </p:cNvSpPr>
          <p:nvPr/>
        </p:nvSpPr>
        <p:spPr>
          <a:xfrm>
            <a:off x="1120947" y="4639866"/>
            <a:ext cx="9950103" cy="753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>
                <a:hlinkClick r:id="rId3"/>
              </a:rPr>
              <a:t>Enlace de descarga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74617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FFF9E4-40C2-5D97-B191-E7BD86038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dirty="0"/>
              <a:t>Manejo de Interfaz - </a:t>
            </a:r>
            <a:r>
              <a:rPr lang="es-AR" dirty="0" err="1"/>
              <a:t>PSeINT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AFA9D2-1FB1-914C-C49B-105077B13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Partes de la interfaz</a:t>
            </a:r>
          </a:p>
          <a:p>
            <a:r>
              <a:rPr lang="es-AR" dirty="0">
                <a:hlinkClick r:id="rId2" action="ppaction://hlinksldjump"/>
              </a:rPr>
              <a:t>Tipos de Datos</a:t>
            </a:r>
            <a:endParaRPr lang="es-AR" dirty="0"/>
          </a:p>
          <a:p>
            <a:r>
              <a:rPr lang="es-AR" dirty="0">
                <a:hlinkClick r:id="rId3" action="ppaction://hlinksldjump"/>
              </a:rPr>
              <a:t>Variables</a:t>
            </a:r>
            <a:endParaRPr lang="es-AR" dirty="0"/>
          </a:p>
          <a:p>
            <a:r>
              <a:rPr lang="es-AR" dirty="0">
                <a:hlinkClick r:id="rId4" action="ppaction://hlinksldjump"/>
              </a:rPr>
              <a:t>Operadores</a:t>
            </a:r>
            <a:r>
              <a:rPr lang="es-AR" dirty="0"/>
              <a:t>:</a:t>
            </a:r>
          </a:p>
          <a:p>
            <a:pPr lvl="1"/>
            <a:r>
              <a:rPr lang="es-AR" dirty="0"/>
              <a:t>Lógicos</a:t>
            </a:r>
          </a:p>
          <a:p>
            <a:pPr lvl="1"/>
            <a:r>
              <a:rPr lang="es-AR" dirty="0"/>
              <a:t>Aritméticos</a:t>
            </a:r>
          </a:p>
          <a:p>
            <a:pPr lvl="1"/>
            <a:r>
              <a:rPr lang="es-AR" dirty="0"/>
              <a:t>Relacionales</a:t>
            </a:r>
          </a:p>
          <a:p>
            <a:pPr lvl="1"/>
            <a:r>
              <a:rPr lang="es-AR" dirty="0"/>
              <a:t>Ejercicios</a:t>
            </a:r>
          </a:p>
        </p:txBody>
      </p:sp>
    </p:spTree>
    <p:extLst>
      <p:ext uri="{BB962C8B-B14F-4D97-AF65-F5344CB8AC3E}">
        <p14:creationId xmlns:p14="http://schemas.microsoft.com/office/powerpoint/2010/main" val="2114637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E198E-D980-13D4-84A1-9A9D3C62B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dirty="0"/>
              <a:t>TIPOS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83AF16-F6A3-4846-7FDE-35FA8E902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AR" dirty="0"/>
              <a:t>Entero (</a:t>
            </a:r>
            <a:r>
              <a:rPr lang="es-AR" dirty="0" err="1"/>
              <a:t>Integer</a:t>
            </a:r>
            <a:r>
              <a:rPr lang="es-AR" dirty="0"/>
              <a:t>) -&gt; </a:t>
            </a:r>
            <a:r>
              <a:rPr lang="es-MX" dirty="0"/>
              <a:t>1, 2, 3, 4, 5, 10, 125, 590, 1926, 76409, 9.483.920, junto con cada número negativo correspondiente: -1,-2, -3, -4, -5,-10, -590, -1926, -76409, -9.483.920. Esto incluye, claro, al cero (0).</a:t>
            </a:r>
          </a:p>
          <a:p>
            <a:r>
              <a:rPr lang="es-AR" dirty="0"/>
              <a:t>Carácter (</a:t>
            </a:r>
            <a:r>
              <a:rPr lang="es-AR" dirty="0" err="1"/>
              <a:t>String</a:t>
            </a:r>
            <a:r>
              <a:rPr lang="es-AR" dirty="0"/>
              <a:t> o </a:t>
            </a:r>
            <a:r>
              <a:rPr lang="es-AR" dirty="0" err="1"/>
              <a:t>Varchar</a:t>
            </a:r>
            <a:r>
              <a:rPr lang="es-AR" dirty="0"/>
              <a:t>) -&gt; son cadena de </a:t>
            </a:r>
            <a:r>
              <a:rPr lang="es-AR" dirty="0" err="1"/>
              <a:t>carateres</a:t>
            </a:r>
            <a:r>
              <a:rPr lang="es-AR" dirty="0"/>
              <a:t> o mensajes con los cuales trabajar</a:t>
            </a:r>
          </a:p>
          <a:p>
            <a:r>
              <a:rPr lang="es-AR" dirty="0"/>
              <a:t>Real (</a:t>
            </a:r>
            <a:r>
              <a:rPr lang="es-AR" dirty="0" err="1"/>
              <a:t>Double</a:t>
            </a:r>
            <a:r>
              <a:rPr lang="es-AR" dirty="0"/>
              <a:t> o </a:t>
            </a:r>
            <a:r>
              <a:rPr lang="es-AR" dirty="0" err="1"/>
              <a:t>Float</a:t>
            </a:r>
            <a:r>
              <a:rPr lang="es-AR" dirty="0"/>
              <a:t>) -&gt; </a:t>
            </a:r>
            <a:r>
              <a:rPr lang="es-MX" dirty="0"/>
              <a:t>estos incluyen los enteros y los números naturales, entre otros. Ejemplos de números reales son 1 4 , π , 0.2 , 5.</a:t>
            </a:r>
          </a:p>
          <a:p>
            <a:r>
              <a:rPr lang="es-MX" dirty="0"/>
              <a:t>Lógicos (Booleanos) -&gt; El tipo de dato lógico, también conocido como «booleano» en honor a George Boole, representan valores de lógica binaria, Es decir, 2 valores, que normalmente representan falso o verdadero.​ Se utiliza normalmente en la programación, estadística, electrónica, matemáticas, </a:t>
            </a:r>
            <a:r>
              <a:rPr lang="es-MX" dirty="0" err="1"/>
              <a:t>etc</a:t>
            </a:r>
            <a:endParaRPr lang="es-AR" dirty="0"/>
          </a:p>
        </p:txBody>
      </p:sp>
      <p:sp>
        <p:nvSpPr>
          <p:cNvPr id="4" name="Botón de acción: ir a inicio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B600EFD-5D91-DEF9-A475-35F3C3D4FD63}"/>
              </a:ext>
            </a:extLst>
          </p:cNvPr>
          <p:cNvSpPr/>
          <p:nvPr/>
        </p:nvSpPr>
        <p:spPr>
          <a:xfrm>
            <a:off x="11341768" y="6176211"/>
            <a:ext cx="545432" cy="561473"/>
          </a:xfrm>
          <a:prstGeom prst="actionButtonHom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71633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13914-0821-D52E-695A-7CDF6793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dirty="0"/>
              <a:t>Variables y Constantes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C76CA2-66E7-C665-8937-0B73F889A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Una </a:t>
            </a:r>
            <a:r>
              <a:rPr lang="es-AR" b="1" dirty="0"/>
              <a:t>variable</a:t>
            </a:r>
            <a:r>
              <a:rPr lang="es-AR" dirty="0"/>
              <a:t> es un espacio de almacenamiento el cual consta de dos elementos el </a:t>
            </a:r>
            <a:r>
              <a:rPr lang="es-AR" b="1" dirty="0"/>
              <a:t>NOMBRE </a:t>
            </a:r>
            <a:r>
              <a:rPr lang="es-AR" dirty="0"/>
              <a:t> y el </a:t>
            </a:r>
            <a:r>
              <a:rPr lang="es-AR" b="1" dirty="0"/>
              <a:t>DATO </a:t>
            </a:r>
            <a:r>
              <a:rPr lang="es-AR" dirty="0"/>
              <a:t>que almacena la cual va cambiando a medida que el programa la va utilizando.</a:t>
            </a:r>
          </a:p>
          <a:p>
            <a:r>
              <a:rPr lang="es-AR" dirty="0"/>
              <a:t>Una </a:t>
            </a:r>
            <a:r>
              <a:rPr lang="es-AR" b="1" dirty="0"/>
              <a:t>constante</a:t>
            </a:r>
            <a:r>
              <a:rPr lang="es-AR" dirty="0"/>
              <a:t> tiene las mismas características que una variable en cuanto al </a:t>
            </a:r>
            <a:r>
              <a:rPr lang="es-AR" b="1" dirty="0"/>
              <a:t>NOMBRE </a:t>
            </a:r>
            <a:r>
              <a:rPr lang="es-AR" dirty="0"/>
              <a:t>y el </a:t>
            </a:r>
            <a:r>
              <a:rPr lang="es-AR" b="1" dirty="0"/>
              <a:t>DATO</a:t>
            </a:r>
            <a:r>
              <a:rPr lang="es-AR" dirty="0"/>
              <a:t> salvo que el dato no cambia, sino más bien, permanece con el mismo valor durante su uso en el programa. Por ejemplo: Número Pi, IVA, </a:t>
            </a:r>
          </a:p>
        </p:txBody>
      </p:sp>
      <p:sp>
        <p:nvSpPr>
          <p:cNvPr id="4" name="Botón de acción: ir a inicio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670C811-636F-24DB-FB65-0A31917B45F7}"/>
              </a:ext>
            </a:extLst>
          </p:cNvPr>
          <p:cNvSpPr/>
          <p:nvPr/>
        </p:nvSpPr>
        <p:spPr>
          <a:xfrm>
            <a:off x="11341768" y="6176211"/>
            <a:ext cx="545432" cy="561473"/>
          </a:xfrm>
          <a:prstGeom prst="actionButtonHom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3642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9FDC0F-3D5B-5ECC-F88B-8721C9AC0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804" y="210930"/>
            <a:ext cx="9950103" cy="603290"/>
          </a:xfrm>
        </p:spPr>
        <p:txBody>
          <a:bodyPr/>
          <a:lstStyle/>
          <a:p>
            <a:pPr algn="ctr"/>
            <a:r>
              <a:rPr lang="es-AR" dirty="0"/>
              <a:t>Operadores</a:t>
            </a:r>
          </a:p>
        </p:txBody>
      </p:sp>
      <p:pic>
        <p:nvPicPr>
          <p:cNvPr id="1026" name="Picture 2" descr="Operadores Lógicos, Aritméticos y Relacionales en PseInt | Información  básica de programación">
            <a:extLst>
              <a:ext uri="{FF2B5EF4-FFF2-40B4-BE49-F238E27FC236}">
                <a16:creationId xmlns:a16="http://schemas.microsoft.com/office/drawing/2014/main" id="{940DF69F-B3C9-4705-6A5A-EC10D7AFD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778" y="814221"/>
            <a:ext cx="5854737" cy="583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Botón de acción: ir a inicio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2BC9174-DD55-796B-17DD-21DA09224002}"/>
              </a:ext>
            </a:extLst>
          </p:cNvPr>
          <p:cNvSpPr/>
          <p:nvPr/>
        </p:nvSpPr>
        <p:spPr>
          <a:xfrm>
            <a:off x="11341768" y="6176211"/>
            <a:ext cx="545432" cy="561473"/>
          </a:xfrm>
          <a:prstGeom prst="actionButtonHom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87196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EE1C7-C3B7-D4D2-ED08-89676EBC5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948" y="230835"/>
            <a:ext cx="9950103" cy="686335"/>
          </a:xfrm>
        </p:spPr>
        <p:txBody>
          <a:bodyPr/>
          <a:lstStyle/>
          <a:p>
            <a:pPr algn="ctr"/>
            <a:r>
              <a:rPr lang="es-AR" dirty="0"/>
              <a:t>EJERCICIOS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381051-40CB-24BE-8773-DCB280D41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120" y="1864608"/>
            <a:ext cx="9950103" cy="351351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Calcular el promedio de tres notas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Lucía es una estudiante que quiere saber si aprobó una materia. Su docente le ha entregado tres calificaciones de sus evaluaciones. Para aprobar la materia, necesita un promedio de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6 o más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Ayudemos a Lucía a escribir un programa que le permita ingresar sus tres notas, calcular el promedio y mostrar si aprueba o no.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Determinar si un número es par o impar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una actividad de juegos de matemáticas, se le pide a los niños que identifiquen si ciertos números son pares o impares. Un número es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par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si al dividirlo entre 2 el resto es cero; de lo contrario, es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impar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Escribe un programa que ayude a los niños a ingresar un número y recibir un mensaje que indique si es par o impar.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3028E5-50C2-6FCD-51A6-88DF2D5E3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5885" y="6077368"/>
            <a:ext cx="5524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7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BlocksVTI">
  <a:themeElements>
    <a:clrScheme name="Blocks">
      <a:dk1>
        <a:sysClr val="windowText" lastClr="000000"/>
      </a:dk1>
      <a:lt1>
        <a:sysClr val="window" lastClr="FFFFFF"/>
      </a:lt1>
      <a:dk2>
        <a:srgbClr val="1B3843"/>
      </a:dk2>
      <a:lt2>
        <a:srgbClr val="F2F3F1"/>
      </a:lt2>
      <a:accent1>
        <a:srgbClr val="7A8592"/>
      </a:accent1>
      <a:accent2>
        <a:srgbClr val="8C8C96"/>
      </a:accent2>
      <a:accent3>
        <a:srgbClr val="7A6C76"/>
      </a:accent3>
      <a:accent4>
        <a:srgbClr val="A7AA9D"/>
      </a:accent4>
      <a:accent5>
        <a:srgbClr val="63787F"/>
      </a:accent5>
      <a:accent6>
        <a:srgbClr val="889DA5"/>
      </a:accent6>
      <a:hlink>
        <a:srgbClr val="71819B"/>
      </a:hlink>
      <a:folHlink>
        <a:srgbClr val="7E8B85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</TotalTime>
  <Words>440</Words>
  <Application>Microsoft Office PowerPoint</Application>
  <PresentationFormat>Panorámica</PresentationFormat>
  <Paragraphs>26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Avenir Next LT Pro</vt:lpstr>
      <vt:lpstr>Avenir Next LT Pro Light</vt:lpstr>
      <vt:lpstr>Wingdings</vt:lpstr>
      <vt:lpstr>BlocksVTI</vt:lpstr>
      <vt:lpstr>Algoritmo – Clase 2</vt:lpstr>
      <vt:lpstr>Instalar - PSeINT</vt:lpstr>
      <vt:lpstr>Manejo de Interfaz - PSeINT</vt:lpstr>
      <vt:lpstr>TIPOS DE DATOS</vt:lpstr>
      <vt:lpstr>Variables y Constantes</vt:lpstr>
      <vt:lpstr>Operadores</vt:lpstr>
      <vt:lpstr>EJERCICIOS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 – Clase 2</dc:title>
  <dc:creator>Gastón Cáceres</dc:creator>
  <cp:lastModifiedBy>Gastón Cáceres</cp:lastModifiedBy>
  <cp:revision>13</cp:revision>
  <dcterms:created xsi:type="dcterms:W3CDTF">2024-04-03T09:35:23Z</dcterms:created>
  <dcterms:modified xsi:type="dcterms:W3CDTF">2025-04-07T16:16:01Z</dcterms:modified>
</cp:coreProperties>
</file>